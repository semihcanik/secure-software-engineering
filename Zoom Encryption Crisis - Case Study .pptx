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JetBrains Mono" panose="020B0604020202020204" charset="0"/>
      <p:regular r:id="rId16"/>
      <p:bold r:id="rId17"/>
      <p:italic r:id="rId18"/>
      <p:boldItalic r:id="rId19"/>
    </p:embeddedFont>
    <p:embeddedFont>
      <p:font typeface="Urbanist" panose="020B0604020202020204" charset="-94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5E24DD-DFEB-4C55-B3EE-1A59602F0A8B}">
  <a:tblStyle styleId="{9C5E24DD-DFEB-4C55-B3EE-1A59602F0A8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mih Canik" userId="48cbeec9dd85a7d5" providerId="LiveId" clId="{5D30A4F5-4C55-4F41-8F61-3F53F920C5C7}"/>
    <pc:docChg chg="undo custSel modSld">
      <pc:chgData name="Semih Canik" userId="48cbeec9dd85a7d5" providerId="LiveId" clId="{5D30A4F5-4C55-4F41-8F61-3F53F920C5C7}" dt="2026-05-01T06:03:05.860" v="75" actId="20577"/>
      <pc:docMkLst>
        <pc:docMk/>
      </pc:docMkLst>
      <pc:sldChg chg="modSp mod">
        <pc:chgData name="Semih Canik" userId="48cbeec9dd85a7d5" providerId="LiveId" clId="{5D30A4F5-4C55-4F41-8F61-3F53F920C5C7}" dt="2026-05-01T05:56:20.139" v="25" actId="1076"/>
        <pc:sldMkLst>
          <pc:docMk/>
          <pc:sldMk cId="0" sldId="259"/>
        </pc:sldMkLst>
        <pc:spChg chg="mod">
          <ac:chgData name="Semih Canik" userId="48cbeec9dd85a7d5" providerId="LiveId" clId="{5D30A4F5-4C55-4F41-8F61-3F53F920C5C7}" dt="2026-05-01T05:51:07.234" v="1" actId="1076"/>
          <ac:spMkLst>
            <pc:docMk/>
            <pc:sldMk cId="0" sldId="259"/>
            <ac:spMk id="140" creationId="{00000000-0000-0000-0000-000000000000}"/>
          </ac:spMkLst>
        </pc:spChg>
        <pc:spChg chg="mod">
          <ac:chgData name="Semih Canik" userId="48cbeec9dd85a7d5" providerId="LiveId" clId="{5D30A4F5-4C55-4F41-8F61-3F53F920C5C7}" dt="2026-05-01T05:54:58.515" v="22" actId="1076"/>
          <ac:spMkLst>
            <pc:docMk/>
            <pc:sldMk cId="0" sldId="259"/>
            <ac:spMk id="144" creationId="{00000000-0000-0000-0000-000000000000}"/>
          </ac:spMkLst>
        </pc:spChg>
        <pc:spChg chg="mod">
          <ac:chgData name="Semih Canik" userId="48cbeec9dd85a7d5" providerId="LiveId" clId="{5D30A4F5-4C55-4F41-8F61-3F53F920C5C7}" dt="2026-05-01T05:56:20.139" v="25" actId="1076"/>
          <ac:spMkLst>
            <pc:docMk/>
            <pc:sldMk cId="0" sldId="259"/>
            <ac:spMk id="145" creationId="{00000000-0000-0000-0000-000000000000}"/>
          </ac:spMkLst>
        </pc:spChg>
        <pc:picChg chg="mod">
          <ac:chgData name="Semih Canik" userId="48cbeec9dd85a7d5" providerId="LiveId" clId="{5D30A4F5-4C55-4F41-8F61-3F53F920C5C7}" dt="2026-05-01T05:50:52.560" v="0" actId="1076"/>
          <ac:picMkLst>
            <pc:docMk/>
            <pc:sldMk cId="0" sldId="259"/>
            <ac:picMk id="139" creationId="{00000000-0000-0000-0000-000000000000}"/>
          </ac:picMkLst>
        </pc:picChg>
      </pc:sldChg>
      <pc:sldChg chg="modSp mod">
        <pc:chgData name="Semih Canik" userId="48cbeec9dd85a7d5" providerId="LiveId" clId="{5D30A4F5-4C55-4F41-8F61-3F53F920C5C7}" dt="2026-05-01T05:54:11.250" v="21" actId="207"/>
        <pc:sldMkLst>
          <pc:docMk/>
          <pc:sldMk cId="0" sldId="260"/>
        </pc:sldMkLst>
        <pc:graphicFrameChg chg="modGraphic">
          <ac:chgData name="Semih Canik" userId="48cbeec9dd85a7d5" providerId="LiveId" clId="{5D30A4F5-4C55-4F41-8F61-3F53F920C5C7}" dt="2026-05-01T05:54:11.250" v="21" actId="207"/>
          <ac:graphicFrameMkLst>
            <pc:docMk/>
            <pc:sldMk cId="0" sldId="260"/>
            <ac:graphicFrameMk id="151" creationId="{00000000-0000-0000-0000-000000000000}"/>
          </ac:graphicFrameMkLst>
        </pc:graphicFrameChg>
      </pc:sldChg>
      <pc:sldChg chg="modSp mod modNotes">
        <pc:chgData name="Semih Canik" userId="48cbeec9dd85a7d5" providerId="LiveId" clId="{5D30A4F5-4C55-4F41-8F61-3F53F920C5C7}" dt="2026-05-01T06:00:07.776" v="37" actId="207"/>
        <pc:sldMkLst>
          <pc:docMk/>
          <pc:sldMk cId="0" sldId="261"/>
        </pc:sldMkLst>
        <pc:spChg chg="mod">
          <ac:chgData name="Semih Canik" userId="48cbeec9dd85a7d5" providerId="LiveId" clId="{5D30A4F5-4C55-4F41-8F61-3F53F920C5C7}" dt="2026-05-01T06:00:07.776" v="37" actId="207"/>
          <ac:spMkLst>
            <pc:docMk/>
            <pc:sldMk cId="0" sldId="261"/>
            <ac:spMk id="182" creationId="{00000000-0000-0000-0000-000000000000}"/>
          </ac:spMkLst>
        </pc:spChg>
        <pc:spChg chg="mod">
          <ac:chgData name="Semih Canik" userId="48cbeec9dd85a7d5" providerId="LiveId" clId="{5D30A4F5-4C55-4F41-8F61-3F53F920C5C7}" dt="2026-05-01T05:58:56.014" v="35" actId="207"/>
          <ac:spMkLst>
            <pc:docMk/>
            <pc:sldMk cId="0" sldId="261"/>
            <ac:spMk id="186" creationId="{00000000-0000-0000-0000-000000000000}"/>
          </ac:spMkLst>
        </pc:spChg>
        <pc:spChg chg="mod">
          <ac:chgData name="Semih Canik" userId="48cbeec9dd85a7d5" providerId="LiveId" clId="{5D30A4F5-4C55-4F41-8F61-3F53F920C5C7}" dt="2026-05-01T05:59:03.583" v="36" actId="207"/>
          <ac:spMkLst>
            <pc:docMk/>
            <pc:sldMk cId="0" sldId="261"/>
            <ac:spMk id="190" creationId="{00000000-0000-0000-0000-000000000000}"/>
          </ac:spMkLst>
        </pc:spChg>
        <pc:picChg chg="mod">
          <ac:chgData name="Semih Canik" userId="48cbeec9dd85a7d5" providerId="LiveId" clId="{5D30A4F5-4C55-4F41-8F61-3F53F920C5C7}" dt="2026-05-01T05:56:56.890" v="26"/>
          <ac:picMkLst>
            <pc:docMk/>
            <pc:sldMk cId="0" sldId="261"/>
            <ac:picMk id="177" creationId="{00000000-0000-0000-0000-000000000000}"/>
          </ac:picMkLst>
        </pc:picChg>
        <pc:picChg chg="mod">
          <ac:chgData name="Semih Canik" userId="48cbeec9dd85a7d5" providerId="LiveId" clId="{5D30A4F5-4C55-4F41-8F61-3F53F920C5C7}" dt="2026-05-01T05:57:04.414" v="27"/>
          <ac:picMkLst>
            <pc:docMk/>
            <pc:sldMk cId="0" sldId="261"/>
            <ac:picMk id="179" creationId="{00000000-0000-0000-0000-000000000000}"/>
          </ac:picMkLst>
        </pc:picChg>
        <pc:picChg chg="mod">
          <ac:chgData name="Semih Canik" userId="48cbeec9dd85a7d5" providerId="LiveId" clId="{5D30A4F5-4C55-4F41-8F61-3F53F920C5C7}" dt="2026-05-01T05:58:03.870" v="32"/>
          <ac:picMkLst>
            <pc:docMk/>
            <pc:sldMk cId="0" sldId="261"/>
            <ac:picMk id="181" creationId="{00000000-0000-0000-0000-000000000000}"/>
          </ac:picMkLst>
        </pc:picChg>
        <pc:picChg chg="mod">
          <ac:chgData name="Semih Canik" userId="48cbeec9dd85a7d5" providerId="LiveId" clId="{5D30A4F5-4C55-4F41-8F61-3F53F920C5C7}" dt="2026-05-01T05:57:48.430" v="31"/>
          <ac:picMkLst>
            <pc:docMk/>
            <pc:sldMk cId="0" sldId="261"/>
            <ac:picMk id="183" creationId="{00000000-0000-0000-0000-000000000000}"/>
          </ac:picMkLst>
        </pc:picChg>
        <pc:picChg chg="mod">
          <ac:chgData name="Semih Canik" userId="48cbeec9dd85a7d5" providerId="LiveId" clId="{5D30A4F5-4C55-4F41-8F61-3F53F920C5C7}" dt="2026-05-01T05:57:42.170" v="30"/>
          <ac:picMkLst>
            <pc:docMk/>
            <pc:sldMk cId="0" sldId="261"/>
            <ac:picMk id="185" creationId="{00000000-0000-0000-0000-000000000000}"/>
          </ac:picMkLst>
        </pc:picChg>
        <pc:picChg chg="mod">
          <ac:chgData name="Semih Canik" userId="48cbeec9dd85a7d5" providerId="LiveId" clId="{5D30A4F5-4C55-4F41-8F61-3F53F920C5C7}" dt="2026-05-01T05:57:33.451" v="29"/>
          <ac:picMkLst>
            <pc:docMk/>
            <pc:sldMk cId="0" sldId="261"/>
            <ac:picMk id="187" creationId="{00000000-0000-0000-0000-000000000000}"/>
          </ac:picMkLst>
        </pc:picChg>
        <pc:picChg chg="mod">
          <ac:chgData name="Semih Canik" userId="48cbeec9dd85a7d5" providerId="LiveId" clId="{5D30A4F5-4C55-4F41-8F61-3F53F920C5C7}" dt="2026-05-01T05:58:23.026" v="33"/>
          <ac:picMkLst>
            <pc:docMk/>
            <pc:sldMk cId="0" sldId="261"/>
            <ac:picMk id="189" creationId="{00000000-0000-0000-0000-000000000000}"/>
          </ac:picMkLst>
        </pc:picChg>
      </pc:sldChg>
      <pc:sldChg chg="modSp mod">
        <pc:chgData name="Semih Canik" userId="48cbeec9dd85a7d5" providerId="LiveId" clId="{5D30A4F5-4C55-4F41-8F61-3F53F920C5C7}" dt="2026-05-01T06:02:35.061" v="49" actId="207"/>
        <pc:sldMkLst>
          <pc:docMk/>
          <pc:sldMk cId="0" sldId="265"/>
        </pc:sldMkLst>
        <pc:graphicFrameChg chg="modGraphic">
          <ac:chgData name="Semih Canik" userId="48cbeec9dd85a7d5" providerId="LiveId" clId="{5D30A4F5-4C55-4F41-8F61-3F53F920C5C7}" dt="2026-05-01T06:02:35.061" v="49" actId="207"/>
          <ac:graphicFrameMkLst>
            <pc:docMk/>
            <pc:sldMk cId="0" sldId="265"/>
            <ac:graphicFrameMk id="255" creationId="{00000000-0000-0000-0000-000000000000}"/>
          </ac:graphicFrameMkLst>
        </pc:graphicFrameChg>
      </pc:sldChg>
      <pc:sldChg chg="modSp mod">
        <pc:chgData name="Semih Canik" userId="48cbeec9dd85a7d5" providerId="LiveId" clId="{5D30A4F5-4C55-4F41-8F61-3F53F920C5C7}" dt="2026-05-01T06:03:05.860" v="75" actId="20577"/>
        <pc:sldMkLst>
          <pc:docMk/>
          <pc:sldMk cId="0" sldId="267"/>
        </pc:sldMkLst>
        <pc:spChg chg="mod">
          <ac:chgData name="Semih Canik" userId="48cbeec9dd85a7d5" providerId="LiveId" clId="{5D30A4F5-4C55-4F41-8F61-3F53F920C5C7}" dt="2026-05-01T06:03:05.860" v="75" actId="20577"/>
          <ac:spMkLst>
            <pc:docMk/>
            <pc:sldMk cId="0" sldId="267"/>
            <ac:spMk id="29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26393"/>
            <a:ext cx="1143000" cy="64293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5276" y="2555081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Zoom </a:t>
            </a:r>
            <a:r>
              <a:rPr lang="en-US" sz="5400" b="1" i="0" u="none" strike="noStrike" cap="none" dirty="0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Encryption Lies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3383756"/>
            <a:ext cx="110299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 Case Study on Marketing Deception &amp; Technical Failure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086225" y="4431506"/>
            <a:ext cx="1562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TOPIC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086225" y="4802981"/>
            <a:ext cx="1562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Cybersecurity Ethics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29325" y="4431506"/>
            <a:ext cx="6762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CASE YEAR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29325" y="4802981"/>
            <a:ext cx="6762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2020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086600" y="4431506"/>
            <a:ext cx="10191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IMPACT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086600" y="4802981"/>
            <a:ext cx="1019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300M+ Users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33600"/>
            <a:ext cx="5324475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33600"/>
            <a:ext cx="5324475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8675" y="23812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828675" y="2790825"/>
            <a:ext cx="5070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The False Claim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28675" y="3238500"/>
            <a:ext cx="48291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Zoom's website and whitepapers claimed meetings were protected by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"End-to-End Encryption" (E2EE)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This implies only meeting participants hold the decryption keys.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828675" y="4200525"/>
            <a:ext cx="482917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828675" y="4400550"/>
            <a:ext cx="48291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Reality: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Zoom used standard transport encryption (TLS). Zoom servers generated and held the keys, giving Zoom the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theoretical ability to decrypt any meeting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23812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534150" y="2790825"/>
            <a:ext cx="5070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Context: The Pandemic Surge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534150" y="3238500"/>
            <a:ext cx="48291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From December 2019 to April 2020, Zoom grew from 10M to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300M daily participants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 Security was sacrificed for ease of use ("It just works").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491412" y="4200525"/>
            <a:ext cx="514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30x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491412" y="4772025"/>
            <a:ext cx="5143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Growth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920287" y="4200525"/>
            <a:ext cx="4857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0%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920287" y="4772025"/>
            <a:ext cx="4857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Real E2EE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1. INTRODUCTION: WHAT HAPPENED?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33575"/>
            <a:ext cx="4943475" cy="440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71525" y="581025"/>
            <a:ext cx="4990623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2. ARCHITECTURE &amp; DATA FLOW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81025" y="581025"/>
            <a:ext cx="38100" cy="9715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828675" y="2181225"/>
            <a:ext cx="467058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Trust Boundary Violation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28675" y="2628900"/>
            <a:ext cx="44481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 a true E2EE model, the trust boundary exists at the user's device. In Zoom's 2020 model, the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Meeting Connector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(Zoom Server) acted as the decryption hub.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181100" y="35718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209675" y="3571875"/>
            <a:ext cx="4067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Sender: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Encrypts with key from Zoom.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181100" y="38290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209675" y="3829050"/>
            <a:ext cx="40671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Zoom Server: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Terminates TLS, has full access to raw audio/video.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181100" y="43434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09675" y="4343400"/>
            <a:ext cx="4067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Recipient: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Receives re-encrypted data.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63303"/>
            <a:ext cx="532447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81025" y="910828"/>
            <a:ext cx="5324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Citizen Lab researchers discovered Zoom was using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AES-128 in ECB mode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instead of the industry-standard AES-256 GCM.</a:t>
            </a:r>
            <a:endParaRPr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86524" y="791919"/>
            <a:ext cx="4924425" cy="542686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486524" y="6219783"/>
            <a:ext cx="49244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The original image is still visible after ECB encryption.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828675" y="1910953"/>
            <a:ext cx="5070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The "Penguin" Problem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28675" y="2358628"/>
            <a:ext cx="48291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ECB (Electronic Codebook) mode encrypts identical plaintext blocks into identical ciphertext blocks. It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fails to hide patterns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28675" y="3044428"/>
            <a:ext cx="48291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 (blockA == blockB) {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  cipherA == cipherB;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} // Critical vulnerability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14851" y="68019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3. TECHNICAL ANALYSIS: AES-ECB FLAW</a:t>
            </a:r>
            <a:endParaRPr dirty="0"/>
          </a:p>
        </p:txBody>
      </p:sp>
      <p:sp>
        <p:nvSpPr>
          <p:cNvPr id="145" name="Google Shape;145;p16"/>
          <p:cNvSpPr/>
          <p:nvPr/>
        </p:nvSpPr>
        <p:spPr>
          <a:xfrm>
            <a:off x="561975" y="68019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17"/>
          <p:cNvGraphicFramePr/>
          <p:nvPr>
            <p:extLst>
              <p:ext uri="{D42A27DB-BD31-4B8C-83A1-F6EECF244321}">
                <p14:modId xmlns:p14="http://schemas.microsoft.com/office/powerpoint/2010/main" val="3235852602"/>
              </p:ext>
            </p:extLst>
          </p:nvPr>
        </p:nvGraphicFramePr>
        <p:xfrm>
          <a:off x="581025" y="2200275"/>
          <a:ext cx="11029950" cy="3324175"/>
        </p:xfrm>
        <a:graphic>
          <a:graphicData uri="http://schemas.openxmlformats.org/drawingml/2006/table">
            <a:tbl>
              <a:tblPr firstRow="1" bandRow="1">
                <a:noFill/>
                <a:tableStyleId>{9C5E24DD-DFEB-4C55-B3EE-1A59602F0A8B}</a:tableStyleId>
              </a:tblPr>
              <a:tblGrid>
                <a:gridCol w="213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5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B82F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B82F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Threat Finding in Zoom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B82F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poofing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Marketing spoofed identity as a "secure" and "E2EE" platform.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Loss of Trust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ampering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ZoomOpener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(Mac) bypassed Safari security to auto-join calls.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Remote Attack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nfo Disclosure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Keys generated in </a:t>
                      </a: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China servers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; AES-ECB leaked patterns.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Data Leak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enial of Service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"Zoombombing" exploited weak meeting IDs to disrupt calls.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Service Halt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levation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Localhost web server allowed unauthorized camera access.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Total Hijack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2" name="Google Shape;152;p17"/>
          <p:cNvSpPr/>
          <p:nvPr/>
        </p:nvSpPr>
        <p:spPr>
          <a:xfrm>
            <a:off x="581025" y="2733675"/>
            <a:ext cx="2139106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2720131" y="2733675"/>
            <a:ext cx="6925419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9645550" y="2733675"/>
            <a:ext cx="1965424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81025" y="3300412"/>
            <a:ext cx="21391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2720131" y="3300412"/>
            <a:ext cx="69254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9645550" y="3300412"/>
            <a:ext cx="196542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581025" y="3852862"/>
            <a:ext cx="21391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2720131" y="3852862"/>
            <a:ext cx="69254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9645550" y="3852862"/>
            <a:ext cx="196542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581025" y="4405312"/>
            <a:ext cx="21391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2720131" y="4405312"/>
            <a:ext cx="69254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9645550" y="4405312"/>
            <a:ext cx="196542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81025" y="4957762"/>
            <a:ext cx="21391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2720131" y="4957762"/>
            <a:ext cx="69254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9645550" y="4957762"/>
            <a:ext cx="196542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581025" y="5510212"/>
            <a:ext cx="213910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2720131" y="5510212"/>
            <a:ext cx="6925419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9645550" y="5510212"/>
            <a:ext cx="196542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4. THREAT MODEL: STRIDE ANALYSIS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4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857250" y="19859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1152525" y="1971675"/>
            <a:ext cx="36004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GOAL: Intercept &amp; Decrypt Private Meeting Content</a:t>
            </a:r>
            <a:endParaRPr/>
          </a:p>
        </p:txBody>
      </p:sp>
      <p:pic>
        <p:nvPicPr>
          <p:cNvPr id="179" name="Google Shape;179;p18" descr="image.png"/>
          <p:cNvPicPr preferRelativeResize="0"/>
          <p:nvPr/>
        </p:nvPicPr>
        <p:blipFill rotWithShape="1">
          <a:blip r:embed="rId5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238250" y="259556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1533525" y="2581275"/>
            <a:ext cx="29718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OR: Compromise Key Management System</a:t>
            </a:r>
            <a:endParaRPr/>
          </a:p>
        </p:txBody>
      </p:sp>
      <p:pic>
        <p:nvPicPr>
          <p:cNvPr id="181" name="Google Shape;181;p18" descr="image.png"/>
          <p:cNvPicPr preferRelativeResize="0"/>
          <p:nvPr/>
        </p:nvPicPr>
        <p:blipFill rotWithShape="1">
          <a:blip r:embed="rId6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619250" y="3205162"/>
            <a:ext cx="1047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1866900" y="3190875"/>
            <a:ext cx="46101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Compromise servers in specific jurisdictions (e.g., China routing) to obtain keys.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83" name="Google Shape;183;p18" descr="image.png"/>
          <p:cNvPicPr preferRelativeResize="0"/>
          <p:nvPr/>
        </p:nvPicPr>
        <p:blipFill rotWithShape="1">
          <a:blip r:embed="rId7">
            <a:alphaModFix/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238250" y="379571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1533525" y="3781425"/>
            <a:ext cx="27717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OR: Cryptanalysis of Intercepted Traffic</a:t>
            </a:r>
            <a:endParaRPr/>
          </a:p>
        </p:txBody>
      </p:sp>
      <p:pic>
        <p:nvPicPr>
          <p:cNvPr id="185" name="Google Shape;185;p18" descr="image.png"/>
          <p:cNvPicPr preferRelativeResize="0"/>
          <p:nvPr/>
        </p:nvPicPr>
        <p:blipFill rotWithShape="1">
          <a:blip r:embed="rId8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619250" y="4405312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1876425" y="4391025"/>
            <a:ext cx="42957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Exploit AES-ECB pattern preservation to reconstruct video/audio frames.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87" name="Google Shape;187;p18" descr="image.png"/>
          <p:cNvPicPr preferRelativeResize="0"/>
          <p:nvPr/>
        </p:nvPicPr>
        <p:blipFill rotWithShape="1">
          <a:blip r:embed="rId9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238250" y="499586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1514475" y="4981575"/>
            <a:ext cx="29718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OR: Exploit Implementation Vulnerabilities</a:t>
            </a:r>
            <a:endParaRPr/>
          </a:p>
        </p:txBody>
      </p:sp>
      <p:pic>
        <p:nvPicPr>
          <p:cNvPr id="189" name="Google Shape;189;p18" descr="image.png"/>
          <p:cNvPicPr preferRelativeResize="0"/>
          <p:nvPr/>
        </p:nvPicPr>
        <p:blipFill rotWithShape="1">
          <a:blip r:embed="rId10">
            <a:alphaModFix/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1619250" y="5605462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1895475" y="5591175"/>
            <a:ext cx="43719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Leverage </a:t>
            </a:r>
            <a:r>
              <a:rPr lang="en-US" sz="1050" b="1" i="0" u="none" strike="noStrike" cap="none" dirty="0" err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ZoomOpener</a:t>
            </a:r>
            <a:r>
              <a:rPr lang="en-US" sz="105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to force users into a controlled, malicious meeting.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5. ATTACK TREE: MEETING INTERCEPTION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90750"/>
            <a:ext cx="5324475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190750"/>
            <a:ext cx="5324475" cy="252576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6534150" y="2438400"/>
            <a:ext cx="5070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The Beijing Connection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6534150" y="2886075"/>
            <a:ext cx="48291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Citizen Lab found that keys for meetings in North America were sometimes generated by servers in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Beijing, China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202" name="Google Shape;20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" y="2200275"/>
            <a:ext cx="5305425" cy="246861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6886575" y="35909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915150" y="3590925"/>
            <a:ext cx="44481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Legal Risk: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Chinese authorities could legally compel Zoom to hand over keys.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886575" y="41052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915150" y="4105275"/>
            <a:ext cx="44481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Explanation: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Zoom called this a "misconfiguration" during a traffic surge.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886575" y="46196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915150" y="4619625"/>
            <a:ext cx="44481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Impact: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Governments (e.g., Taiwan, Germany) banned Zoom for official use.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6. GEOPOLITICAL ASPECT: CHINA ROUTING</a:t>
            </a:r>
            <a:endParaRPr/>
          </a:p>
        </p:txBody>
      </p:sp>
      <p:sp>
        <p:nvSpPr>
          <p:cNvPr id="210" name="Google Shape;210;p19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519612"/>
            <a:ext cx="110299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776412"/>
            <a:ext cx="532447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776412"/>
            <a:ext cx="532447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50" y="4529137"/>
            <a:ext cx="110109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8675" y="202406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828675" y="2433637"/>
            <a:ext cx="5070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Legal &amp; Financial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828675" y="2881312"/>
            <a:ext cx="4829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FTC filed a complaint for "Deceptive Security Claims."</a:t>
            </a:r>
            <a:endParaRPr/>
          </a:p>
        </p:txBody>
      </p:sp>
      <p:pic>
        <p:nvPicPr>
          <p:cNvPr id="223" name="Google Shape;22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4150" y="202406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6534150" y="2433637"/>
            <a:ext cx="5070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Brand Damage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534150" y="2881312"/>
            <a:ext cx="48291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Security researchers called it "Malware-like behavior." Major corporations (SpaceX, Google) restricted use, leading to a temporary stock price dip and public apology from CEO Eric Yuan.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1181100" y="3309937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209675" y="3309937"/>
            <a:ext cx="4448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$85 Million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Class Action Settlement.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1181100" y="3567112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1209675" y="3567112"/>
            <a:ext cx="4448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20-Year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Independent Audit Agreement.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7. IMPACT: FALLOUT &amp; SETTLEMENT</a:t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00300"/>
            <a:ext cx="5324475" cy="2709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495675"/>
            <a:ext cx="5324475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" y="2409825"/>
            <a:ext cx="5305425" cy="265271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6286500" y="2400300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Rapid Remediation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286500" y="2790825"/>
            <a:ext cx="53244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Zoom halted all new feature development for 90 days to focus exclusively on security.</a:t>
            </a:r>
            <a:endParaRPr/>
          </a:p>
        </p:txBody>
      </p:sp>
      <p:sp>
        <p:nvSpPr>
          <p:cNvPr id="242" name="Google Shape;242;p21"/>
          <p:cNvSpPr txBox="1"/>
          <p:nvPr/>
        </p:nvSpPr>
        <p:spPr>
          <a:xfrm>
            <a:off x="6534150" y="3895725"/>
            <a:ext cx="48291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AES-256 GCM: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Industry-standard authenticated encryption.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534150" y="4238625"/>
            <a:ext cx="48291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Keybase Acquisition: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To build actual E2EE protocols.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6534150" y="4581525"/>
            <a:ext cx="48291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Transparency: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Weekly "Ask Me Anything" security webinars.</a:t>
            </a:r>
            <a:endParaRPr/>
          </a:p>
        </p:txBody>
      </p:sp>
      <p:pic>
        <p:nvPicPr>
          <p:cNvPr id="245" name="Google Shape;24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39433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42862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46291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8. DEFENSIVE STRATEGY: 90-DAY PLAN</a:t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5" name="Google Shape;255;p22"/>
          <p:cNvGraphicFramePr/>
          <p:nvPr>
            <p:extLst>
              <p:ext uri="{D42A27DB-BD31-4B8C-83A1-F6EECF244321}">
                <p14:modId xmlns:p14="http://schemas.microsoft.com/office/powerpoint/2010/main" val="3202413010"/>
              </p:ext>
            </p:extLst>
          </p:nvPr>
        </p:nvGraphicFramePr>
        <p:xfrm>
          <a:off x="581025" y="2476500"/>
          <a:ext cx="11029925" cy="2771750"/>
        </p:xfrm>
        <a:graphic>
          <a:graphicData uri="http://schemas.openxmlformats.org/drawingml/2006/table">
            <a:tbl>
              <a:tblPr firstRow="1" bandRow="1">
                <a:noFill/>
                <a:tableStyleId>{9C5E24DD-DFEB-4C55-B3EE-1A59602F0A8B}</a:tableStyleId>
              </a:tblPr>
              <a:tblGrid>
                <a:gridCol w="260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B82F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B82F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Q1 2020 (The Lies)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B82F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Q4 2020 (The Fix)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Encryption Mode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AES-128 ECB (Pattern Leaking)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AES-256 GCM (Authenticated)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Key Ownership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Zoom Servers (High Risk)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User Devices (E2EE Opt-in)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Default Security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Weak PINs / No Passwords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Waiting Rooms / Strong IDs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Compliance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Self-certified claims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External Third-party Audits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6" name="Google Shape;256;p22"/>
          <p:cNvSpPr/>
          <p:nvPr/>
        </p:nvSpPr>
        <p:spPr>
          <a:xfrm>
            <a:off x="581025" y="3009900"/>
            <a:ext cx="2602557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3183582" y="3009900"/>
            <a:ext cx="4167187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7350769" y="3009900"/>
            <a:ext cx="4260205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581025" y="3576637"/>
            <a:ext cx="260255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3183582" y="3576637"/>
            <a:ext cx="41671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7350769" y="3576637"/>
            <a:ext cx="42602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581025" y="4129087"/>
            <a:ext cx="260255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3183582" y="4129087"/>
            <a:ext cx="41671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7350769" y="4129087"/>
            <a:ext cx="42602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581025" y="4681537"/>
            <a:ext cx="260255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3183582" y="4681537"/>
            <a:ext cx="41671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7350769" y="4681537"/>
            <a:ext cx="42602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581025" y="5233987"/>
            <a:ext cx="260255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3183582" y="5233987"/>
            <a:ext cx="41671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7350769" y="5233987"/>
            <a:ext cx="4260205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9. SECURITY EVOLUTION: BEFORE VS. AFTER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524250"/>
            <a:ext cx="11029950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447800"/>
            <a:ext cx="5324475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1447800"/>
            <a:ext cx="5324475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565308" y="3771900"/>
            <a:ext cx="11061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"I really messed up."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828675" y="4219575"/>
            <a:ext cx="105346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— Eric Yuan, Zoom CEO, April 2020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828675" y="1695450"/>
            <a:ext cx="5070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1. Marketing != Security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828675" y="2143125"/>
            <a:ext cx="482917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Don't use technical terms (E2EE) for marketing if you don't implement the technical reality. Transparency is the only long-term defense.</a:t>
            </a:r>
            <a:endParaRPr/>
          </a:p>
        </p:txBody>
      </p:sp>
      <p:sp>
        <p:nvSpPr>
          <p:cNvPr id="285" name="Google Shape;285;p23"/>
          <p:cNvSpPr txBox="1"/>
          <p:nvPr/>
        </p:nvSpPr>
        <p:spPr>
          <a:xfrm>
            <a:off x="6534150" y="1695450"/>
            <a:ext cx="507063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2. Zero Trust Architecture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6534150" y="2143125"/>
            <a:ext cx="48291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Assume the network and the service provider are compromised. Build security at the device level, not the server level.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10. LESSONS: TRUST &amp; TRANSPARENCY</a:t>
            </a:r>
            <a:endParaRPr/>
          </a:p>
        </p:txBody>
      </p:sp>
      <p:sp>
        <p:nvSpPr>
          <p:cNvPr id="288" name="Google Shape;288;p23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33550"/>
            <a:ext cx="110299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4"/>
          <p:cNvSpPr txBox="1"/>
          <p:nvPr/>
        </p:nvSpPr>
        <p:spPr>
          <a:xfrm>
            <a:off x="305276" y="2971800"/>
            <a:ext cx="1158144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Questions </a:t>
            </a:r>
            <a:r>
              <a:rPr lang="en-US" sz="540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&amp; Discussion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581025" y="3800475"/>
            <a:ext cx="110299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 | [</a:t>
            </a:r>
            <a:r>
              <a:rPr lang="tr-TR" sz="1800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Semih Canik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]</a:t>
            </a:r>
            <a:endParaRPr dirty="0"/>
          </a:p>
        </p:txBody>
      </p:sp>
      <p:sp>
        <p:nvSpPr>
          <p:cNvPr id="297" name="Google Shape;297;p24"/>
          <p:cNvSpPr txBox="1"/>
          <p:nvPr/>
        </p:nvSpPr>
        <p:spPr>
          <a:xfrm>
            <a:off x="581025" y="4943475"/>
            <a:ext cx="110299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Reference: Citizen Lab Report (2020), FTC Case File (2020)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/>
          <p:nvPr/>
        </p:nvSpPr>
        <p:spPr>
          <a:xfrm>
            <a:off x="581025" y="1466850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581025" y="2238375"/>
            <a:ext cx="110299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581025" y="3181350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581025" y="395287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581025" y="4724400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581025" y="22288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581025" y="22288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581025" y="31718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581025" y="317182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581025" y="39433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581025" y="39433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581025" y="47148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581025" y="47148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581025" y="54864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581025" y="54864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6097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5"/>
          <p:cNvSpPr txBox="1"/>
          <p:nvPr/>
        </p:nvSpPr>
        <p:spPr>
          <a:xfrm>
            <a:off x="1676400" y="1616868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https://www.regiereducation.com/wp-content/uploads/2022/06/Zoom-Green-Shield-Blog-and-LinkedIn-banner_try-it.png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1676400" y="1850231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www.regiereducation.com</a:t>
            </a:r>
            <a:endParaRPr/>
          </a:p>
        </p:txBody>
      </p:sp>
      <p:pic>
        <p:nvPicPr>
          <p:cNvPr id="321" name="Google Shape;321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4669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5"/>
          <p:cNvSpPr txBox="1"/>
          <p:nvPr/>
        </p:nvSpPr>
        <p:spPr>
          <a:xfrm>
            <a:off x="1676400" y="2381250"/>
            <a:ext cx="99345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https://media2.dev.to/dynamic/image/width=800%2Cheight=%2Cfit=scale-down%2Cgravity=auto%2Cformat=auto/https%3A%2F%2Fdev-to-uploads.s3.amazonaws.com%2Fuploads%2Farticles%2F1vgg29q1b90dyzafxou2.png</a:t>
            </a:r>
            <a:endParaRPr dirty="0"/>
          </a:p>
        </p:txBody>
      </p:sp>
      <p:sp>
        <p:nvSpPr>
          <p:cNvPr id="323" name="Google Shape;323;p25"/>
          <p:cNvSpPr txBox="1"/>
          <p:nvPr/>
        </p:nvSpPr>
        <p:spPr>
          <a:xfrm>
            <a:off x="1676400" y="2800350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dev.to</a:t>
            </a:r>
            <a:endParaRPr dirty="0"/>
          </a:p>
        </p:txBody>
      </p:sp>
      <p:pic>
        <p:nvPicPr>
          <p:cNvPr id="324" name="Google Shape;324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3242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5"/>
          <p:cNvSpPr txBox="1"/>
          <p:nvPr/>
        </p:nvSpPr>
        <p:spPr>
          <a:xfrm>
            <a:off x="1676400" y="3331368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https://i.sstatic.net/AWg5i.jpg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1676400" y="3564731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crypto.stackexchange.com</a:t>
            </a:r>
            <a:endParaRPr/>
          </a:p>
        </p:txBody>
      </p:sp>
      <p:pic>
        <p:nvPicPr>
          <p:cNvPr id="327" name="Google Shape;327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0957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5"/>
          <p:cNvSpPr txBox="1"/>
          <p:nvPr/>
        </p:nvSpPr>
        <p:spPr>
          <a:xfrm>
            <a:off x="1676400" y="4102893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https://www.sekologistics.com/media/ezrhr0uv/asia-transpacific-route-map.png</a:t>
            </a:r>
            <a:endParaRPr/>
          </a:p>
        </p:txBody>
      </p:sp>
      <p:sp>
        <p:nvSpPr>
          <p:cNvPr id="329" name="Google Shape;329;p25"/>
          <p:cNvSpPr txBox="1"/>
          <p:nvPr/>
        </p:nvSpPr>
        <p:spPr>
          <a:xfrm>
            <a:off x="1676400" y="4336256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www.sekologistics.com</a:t>
            </a:r>
            <a:endParaRPr/>
          </a:p>
        </p:txBody>
      </p:sp>
      <p:pic>
        <p:nvPicPr>
          <p:cNvPr id="330" name="Google Shape;330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8672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5"/>
          <p:cNvSpPr txBox="1"/>
          <p:nvPr/>
        </p:nvSpPr>
        <p:spPr>
          <a:xfrm>
            <a:off x="1676400" y="4874418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https://www.vazirilaw.com/wp-content/uploads/2025/11/Settlement-vs.-Trial.webp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1676400" y="5107781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www.vazirilaw.com</a:t>
            </a:r>
            <a:endParaRPr/>
          </a:p>
        </p:txBody>
      </p:sp>
      <p:pic>
        <p:nvPicPr>
          <p:cNvPr id="333" name="Google Shape;333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1025" y="56388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5"/>
          <p:cNvSpPr txBox="1"/>
          <p:nvPr/>
        </p:nvSpPr>
        <p:spPr>
          <a:xfrm>
            <a:off x="1676400" y="5645943"/>
            <a:ext cx="99345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https://media.zoom.com/images/assets/Zoom+90+Day+CEO+Report/Zz0wYTkxNzVlNjQyODUxMWVlYmRlOGFhZTE5MDdmZTNlOQ==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1676400" y="5879306"/>
            <a:ext cx="993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www.zoom.com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337" name="Google Shape;337;p25"/>
          <p:cNvSpPr/>
          <p:nvPr/>
        </p:nvSpPr>
        <p:spPr>
          <a:xfrm>
            <a:off x="581025" y="581025"/>
            <a:ext cx="38100" cy="4857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989</Words>
  <Application>Microsoft Office PowerPoint</Application>
  <PresentationFormat>Widescreen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Urbanist</vt:lpstr>
      <vt:lpstr>Arial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Semih Canik</cp:lastModifiedBy>
  <cp:revision>1</cp:revision>
  <dcterms:modified xsi:type="dcterms:W3CDTF">2026-05-01T06:05:32Z</dcterms:modified>
</cp:coreProperties>
</file>