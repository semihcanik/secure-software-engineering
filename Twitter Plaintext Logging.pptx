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Medium" panose="020B0604020202020204" charset="0"/>
      <p:regular r:id="rId19"/>
      <p:bold r:id="rId20"/>
      <p:italic r:id="rId21"/>
      <p:boldItalic r:id="rId22"/>
    </p:embeddedFont>
    <p:embeddedFont>
      <p:font typeface="Urbanist" panose="020B0604020202020204" charset="-94"/>
      <p:regular r:id="rId23"/>
      <p:bold r:id="rId24"/>
      <p:italic r:id="rId25"/>
      <p:boldItalic r:id="rId26"/>
    </p:embeddedFont>
    <p:embeddedFont>
      <p:font typeface="Urbanist Medium" panose="020B0604020202020204" charset="-94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B9EFEC-1D5E-460B-B669-F03A8F0CB74B}">
  <a:tblStyle styleId="{42B9EFEC-1D5E-460B-B669-F03A8F0CB7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mih Canik" userId="48cbeec9dd85a7d5" providerId="LiveId" clId="{913EE1AE-EE5E-43C5-BFEF-5A4CC4709F4C}"/>
    <pc:docChg chg="undo custSel modSld">
      <pc:chgData name="Semih Canik" userId="48cbeec9dd85a7d5" providerId="LiveId" clId="{913EE1AE-EE5E-43C5-BFEF-5A4CC4709F4C}" dt="2026-05-14T10:35:23.548" v="4" actId="207"/>
      <pc:docMkLst>
        <pc:docMk/>
      </pc:docMkLst>
      <pc:sldChg chg="delSp mod">
        <pc:chgData name="Semih Canik" userId="48cbeec9dd85a7d5" providerId="LiveId" clId="{913EE1AE-EE5E-43C5-BFEF-5A4CC4709F4C}" dt="2026-05-14T10:34:24.905" v="1" actId="478"/>
        <pc:sldMkLst>
          <pc:docMk/>
          <pc:sldMk cId="0" sldId="259"/>
        </pc:sldMkLst>
        <pc:picChg chg="del">
          <ac:chgData name="Semih Canik" userId="48cbeec9dd85a7d5" providerId="LiveId" clId="{913EE1AE-EE5E-43C5-BFEF-5A4CC4709F4C}" dt="2026-05-14T10:34:18.886" v="0" actId="478"/>
          <ac:picMkLst>
            <pc:docMk/>
            <pc:sldMk cId="0" sldId="259"/>
            <ac:picMk id="127" creationId="{00000000-0000-0000-0000-000000000000}"/>
          </ac:picMkLst>
        </pc:picChg>
        <pc:picChg chg="del">
          <ac:chgData name="Semih Canik" userId="48cbeec9dd85a7d5" providerId="LiveId" clId="{913EE1AE-EE5E-43C5-BFEF-5A4CC4709F4C}" dt="2026-05-14T10:34:24.905" v="1" actId="478"/>
          <ac:picMkLst>
            <pc:docMk/>
            <pc:sldMk cId="0" sldId="259"/>
            <ac:picMk id="133" creationId="{00000000-0000-0000-0000-000000000000}"/>
          </ac:picMkLst>
        </pc:picChg>
      </pc:sldChg>
      <pc:sldChg chg="modSp mod">
        <pc:chgData name="Semih Canik" userId="48cbeec9dd85a7d5" providerId="LiveId" clId="{913EE1AE-EE5E-43C5-BFEF-5A4CC4709F4C}" dt="2026-05-14T10:35:23.548" v="4" actId="207"/>
        <pc:sldMkLst>
          <pc:docMk/>
          <pc:sldMk cId="0" sldId="260"/>
        </pc:sldMkLst>
        <pc:graphicFrameChg chg="modGraphic">
          <ac:chgData name="Semih Canik" userId="48cbeec9dd85a7d5" providerId="LiveId" clId="{913EE1AE-EE5E-43C5-BFEF-5A4CC4709F4C}" dt="2026-05-14T10:35:23.548" v="4" actId="207"/>
          <ac:graphicFrameMkLst>
            <pc:docMk/>
            <pc:sldMk cId="0" sldId="260"/>
            <ac:graphicFrameMk id="14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67935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Twitter </a:t>
            </a:r>
            <a:r>
              <a:rPr lang="en-US" sz="6000" b="1" i="0" u="none" strike="noStrike" cap="none">
                <a:solidFill>
                  <a:srgbClr val="1DA1F2"/>
                </a:solidFill>
                <a:latin typeface="Urbanist"/>
                <a:ea typeface="Urbanist"/>
                <a:cs typeface="Urbanist"/>
                <a:sym typeface="Urbanist"/>
              </a:rPr>
              <a:t>Plaintext</a:t>
            </a: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Logging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4615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 Case Study on Internal Defects &amp; The Fragility of Password Masking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7925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71500" y="4492823"/>
            <a:ext cx="3638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A1F2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r>
              <a:rPr lang="en-US" sz="1200" b="0" i="0" u="none" strike="noStrike" cap="non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F5F5F5"/>
                </a:solidFill>
                <a:latin typeface="Inter Medium"/>
                <a:ea typeface="Inter Medium"/>
                <a:cs typeface="Inter Medium"/>
                <a:sym typeface="Inter Medium"/>
              </a:rPr>
              <a:t>Cybersecurity / Data Privacy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591050" y="4492823"/>
            <a:ext cx="88106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A1F2"/>
                </a:solidFill>
                <a:latin typeface="Inter"/>
                <a:ea typeface="Inter"/>
                <a:cs typeface="Inter"/>
                <a:sym typeface="Inter"/>
              </a:rPr>
              <a:t>Case Year</a:t>
            </a:r>
            <a:r>
              <a:rPr lang="en-US" sz="1200" b="0" i="0" u="none" strike="noStrike" cap="non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F5F5F5"/>
                </a:solidFill>
                <a:latin typeface="Inter Medium"/>
                <a:ea typeface="Inter Medium"/>
                <a:cs typeface="Inter Medium"/>
                <a:sym typeface="Inter Medium"/>
              </a:rPr>
              <a:t>2018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53112" y="4492823"/>
            <a:ext cx="17335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A1F2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r>
              <a:rPr lang="en-US" sz="1200" b="0" i="0" u="none" strike="noStrike" cap="none">
                <a:solidFill>
                  <a:srgbClr val="F5F5F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>
                <a:solidFill>
                  <a:srgbClr val="F5F5F5"/>
                </a:solidFill>
                <a:latin typeface="Inter Medium"/>
                <a:ea typeface="Inter Medium"/>
                <a:cs typeface="Inter Medium"/>
                <a:sym typeface="Inter Medium"/>
              </a:rPr>
              <a:t>330M+ Users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5350668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Introduction: What Happened?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47625" cy="110490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0574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Discovery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4669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On May 3, 2018, Twitter disclosed that a bug had caused user passwords to be stored unmasked in an internal log file.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7623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While Twitter uses industry-standard </a:t>
            </a: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bcrypt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hashing to mask passwords, this defect recorded the raw plaintext data before the masking process was finalized.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0577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The company urged its entire user base—330 million people—to change their passwords as a precaution.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3625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33625"/>
            <a:ext cx="34925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33625"/>
            <a:ext cx="3492549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66775" y="32861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Bcrypt Process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66775" y="37528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User enters password → Bcrypt algorithm salts &amp; hashes → Resulting hash stored in DB. Secure by design.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32861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Failure Point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5074" y="37528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Before Bcrypt completed, the internal logging system captured the input buffer. Plaintext was written to disk.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23374" y="328612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Intended Masking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374" y="375285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Passwords are never meant to be readable by any employee. The bug bypassed this critical trust boundary.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670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667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6670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Architecture &amp; Data Flow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05400"/>
            <a:ext cx="5286375" cy="54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1990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Why it failed?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4003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Twitter's hashing function replaces the password with a random set of characters. This allows validation without storage.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35052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The bug existed in the </a:t>
            </a:r>
            <a:r>
              <a:rPr lang="en-US" sz="1500" b="1" i="0" u="none" strike="noStrike" cap="none" dirty="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logging layer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. During a traffic surge or system update, passwords were inadvertently dumped into a internal debug log.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46101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Formula used for validation:</a:t>
            </a:r>
            <a:endParaRPr dirty="0"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295900"/>
            <a:ext cx="4905375" cy="1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Technical Analysis: The Bug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17"/>
          <p:cNvGraphicFramePr/>
          <p:nvPr>
            <p:extLst>
              <p:ext uri="{D42A27DB-BD31-4B8C-83A1-F6EECF244321}">
                <p14:modId xmlns:p14="http://schemas.microsoft.com/office/powerpoint/2010/main" val="527613352"/>
              </p:ext>
            </p:extLst>
          </p:nvPr>
        </p:nvGraphicFramePr>
        <p:xfrm>
          <a:off x="571500" y="2543175"/>
          <a:ext cx="11048975" cy="2895600"/>
        </p:xfrm>
        <a:graphic>
          <a:graphicData uri="http://schemas.openxmlformats.org/drawingml/2006/table">
            <a:tbl>
              <a:tblPr firstRow="1" bandRow="1">
                <a:noFill/>
                <a:tableStyleId>{42B9EFEC-1D5E-460B-B669-F03A8F0CB74B}</a:tableStyleId>
              </a:tblPr>
              <a:tblGrid>
                <a:gridCol w="20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A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Internal Bug Finding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A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DA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Spoofing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Malicious internal actor impersonating log analyst.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Account Takeover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Tampering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Logs could be altered to hide data extraction.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Audit Trail Loss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 Disclosure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Plaintext passwords exposed in local logs.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Massive Privacy Breach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Denial of Service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 log files filling up internal disk space.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System Instability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Elevation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 to logs provides keys to highly privileged accounts.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Hijack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3" name="Google Shape;143;p17"/>
          <p:cNvSpPr/>
          <p:nvPr/>
        </p:nvSpPr>
        <p:spPr>
          <a:xfrm>
            <a:off x="571500" y="348138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2643187" y="3481387"/>
            <a:ext cx="62540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897242" y="3481387"/>
            <a:ext cx="27232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3967162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643187" y="3967162"/>
            <a:ext cx="62540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8897242" y="3967162"/>
            <a:ext cx="27232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445293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2643187" y="4452937"/>
            <a:ext cx="62540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8897242" y="4452937"/>
            <a:ext cx="27232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4938712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643187" y="4938712"/>
            <a:ext cx="62540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8897242" y="4938712"/>
            <a:ext cx="27232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5424487"/>
            <a:ext cx="207168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643187" y="5424487"/>
            <a:ext cx="625405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8897242" y="5424487"/>
            <a:ext cx="272325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4. Threat Model: STRIDE Analysis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2852737"/>
            <a:ext cx="496252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 dirty="0">
                <a:solidFill>
                  <a:srgbClr val="1DA1F2"/>
                </a:solidFill>
                <a:latin typeface="Inter"/>
                <a:ea typeface="Inter"/>
                <a:cs typeface="Inter"/>
                <a:sym typeface="Inter"/>
              </a:rPr>
              <a:t>330M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567237"/>
            <a:ext cx="49625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5F5F5"/>
                </a:solidFill>
                <a:latin typeface="Inter Medium"/>
                <a:ea typeface="Inter Medium"/>
                <a:cs typeface="Inter Medium"/>
                <a:sym typeface="Inter Medium"/>
              </a:rPr>
              <a:t>Users Affected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105525" y="2433637"/>
            <a:ext cx="579072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Precautionary Call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105525" y="2843212"/>
            <a:ext cx="55149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While Twitter stated there was no evidence of an external breach or misuse, the sheer volume of passwords potentially exposed meant a platform-wide warning was necessary.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105525" y="4252912"/>
            <a:ext cx="55149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This incident is one of the largest "potential" exposures in history, highlighting that internal hygiene is as important as external perimeter defense.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5. Scale of the Issue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44338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Data highlights the contrast between the *potential* risk and the *actual* observed misuse.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6. Comparative Impact</a:t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/>
          <p:nvPr/>
        </p:nvSpPr>
        <p:spPr>
          <a:xfrm>
            <a:off x="571500" y="3228975"/>
            <a:ext cx="11049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8705" y="29908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10733" y="3657600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A1F2"/>
                </a:solidFill>
                <a:latin typeface="Urbanist"/>
                <a:ea typeface="Urbanist"/>
                <a:cs typeface="Urbanist"/>
                <a:sym typeface="Urbanist"/>
              </a:rPr>
              <a:t>Discovery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407670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Bug found during internal engineering review.</a:t>
            </a:r>
            <a:endParaRPr/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1385" y="29908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3383413" y="3657600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A1F2"/>
                </a:solidFill>
                <a:latin typeface="Urbanist"/>
                <a:ea typeface="Urbanist"/>
                <a:cs typeface="Urbanist"/>
                <a:sym typeface="Urbanist"/>
              </a:rPr>
              <a:t>Fixing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3444180" y="407670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Logging defect patched and code reviewed.</a:t>
            </a:r>
            <a:endParaRPr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4066" y="29908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6256094" y="3657600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A1F2"/>
                </a:solidFill>
                <a:latin typeface="Urbanist"/>
                <a:ea typeface="Urbanist"/>
                <a:cs typeface="Urbanist"/>
                <a:sym typeface="Urbanist"/>
              </a:rPr>
              <a:t>Purging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316860" y="4076700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Internal log files containing plaintext were wiped.</a:t>
            </a:r>
            <a:endParaRPr/>
          </a:p>
        </p:txBody>
      </p:sp>
      <p:pic>
        <p:nvPicPr>
          <p:cNvPr id="196" name="Google Shape;1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66746" y="299085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9128774" y="3657600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A1F2"/>
                </a:solidFill>
                <a:latin typeface="Urbanist"/>
                <a:ea typeface="Urbanist"/>
                <a:cs typeface="Urbanist"/>
                <a:sym typeface="Urbanist"/>
              </a:rPr>
              <a:t>Disclosure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189541" y="407670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Public announcement and reset recommendation.</a:t>
            </a:r>
            <a:endParaRPr/>
          </a:p>
        </p:txBody>
      </p:sp>
      <p:pic>
        <p:nvPicPr>
          <p:cNvPr id="199" name="Google Shape;19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10630" y="31527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64260" y="315277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65516" y="31527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328671" y="31527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7. Remediation: Timeline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2190750" y="2890837"/>
            <a:ext cx="78105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1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"We found this error ourselves, removed the passwords, and are implementing plans to prevent this bug from happening again. We’re very sorry this happened." 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3995737" y="5005387"/>
            <a:ext cx="42005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DA1F2"/>
                </a:solidFill>
                <a:latin typeface="Inter"/>
                <a:ea typeface="Inter"/>
                <a:cs typeface="Inter"/>
                <a:sym typeface="Inter"/>
              </a:rPr>
              <a:t>— Jack Dorsey, CEO of Twitter (2018)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619250" y="2509837"/>
            <a:ext cx="37147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1" u="none" strike="noStrike" cap="none">
                <a:solidFill>
                  <a:srgbClr val="1DA1F2"/>
                </a:solidFill>
                <a:latin typeface="Urbanist"/>
                <a:ea typeface="Urbanist"/>
                <a:cs typeface="Urbanist"/>
                <a:sym typeface="Urbanist"/>
              </a:rPr>
              <a:t>“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8. Leadership Accountability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952500" y="22955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Audit Your Logs: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Logging systems are often overlooked. They must be audited with the same rigor as production databases to ensure sensitive data (PII) is not captured.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52500" y="30956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Hashing is Not Enough: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If your system logs the "input" buffer before hashing, the strength of the algorithm (bcrypt) becomes irrelevant.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52500" y="38957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Least Privilege Access: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Internal logs should have restricted access. If a bug occurs, only a few highly vetted engineers should be able to view the data before it is purged.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52500" y="4695825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Transparency Matters:</a:t>
            </a:r>
            <a:r>
              <a:rPr lang="en-US" sz="15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 Twitter’s proactive disclosure saved their reputation despite the scale of the error. Honesty prevents fallout.</a:t>
            </a:r>
            <a:endParaRPr/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3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3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338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3392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9. Lessons: Internal Security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65541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3425666" y="2893665"/>
            <a:ext cx="534066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3552825" y="3960465"/>
            <a:ext cx="5086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Twitter Password Security Incident Case Study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3552825" y="470713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Reference: Twitter Engineering Blog, May 2018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/>
          <p:nvPr/>
        </p:nvSpPr>
        <p:spPr>
          <a:xfrm>
            <a:off x="571500" y="262428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571500" y="340905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71500" y="33995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71500" y="33995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571500" y="4382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737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/>
          <p:nvPr/>
        </p:nvSpPr>
        <p:spPr>
          <a:xfrm>
            <a:off x="1666875" y="276716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https://img.freepik.com/premium-vector/social-media-icon-twitter_1043920-190.jpg?semt=ais_hybrid&amp;w=740&amp;q=80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666875" y="30128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id="253" name="Google Shape;25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57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1666875" y="355193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https://static.vecteezy.com/system/resources/thumbnails/075/948/456/large/binary-code-0-and-1-abstract-digital-data-flow-animation-footage-blue-text-on-black-background-video.jpg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1666875" y="39957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256" name="Google Shape;25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413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1666875" y="45347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https://live.mgm-tp.com/wp-content/uploads/2019/04/Fig5-Incremental-conversion-process.png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1666875" y="47805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AFFDE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insights.mgm-tp.com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1DA1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Microsoft Office PowerPoint</Application>
  <PresentationFormat>Widescreen</PresentationFormat>
  <Paragraphs>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Urbanist Medium</vt:lpstr>
      <vt:lpstr>Arial</vt:lpstr>
      <vt:lpstr>Urbanist</vt:lpstr>
      <vt:lpstr>Calibri</vt:lpstr>
      <vt:lpstr>Inter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Semih Canik</cp:lastModifiedBy>
  <cp:revision>1</cp:revision>
  <dcterms:modified xsi:type="dcterms:W3CDTF">2026-05-14T10:35:41Z</dcterms:modified>
</cp:coreProperties>
</file>