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JetBrains Mono" panose="020B0604020202020204" charset="0"/>
      <p:regular r:id="rId16"/>
      <p:bold r:id="rId17"/>
      <p:italic r:id="rId18"/>
      <p:boldItalic r:id="rId19"/>
    </p:embeddedFont>
    <p:embeddedFont>
      <p:font typeface="JetBrains Mono Medium" panose="020B0604020202020204" charset="0"/>
      <p:regular r:id="rId20"/>
      <p:bold r:id="rId21"/>
      <p:italic r:id="rId22"/>
      <p:boldItalic r:id="rId23"/>
    </p:embeddedFont>
    <p:embeddedFont>
      <p:font typeface="Urbanist" panose="020B0604020202020204" charset="-94"/>
      <p:regular r:id="rId24"/>
      <p:bold r:id="rId25"/>
      <p:italic r:id="rId26"/>
      <p:boldItalic r:id="rId27"/>
    </p:embeddedFont>
    <p:embeddedFont>
      <p:font typeface="Urbanist Medium" panose="020B0604020202020204" charset="-94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73B274-E13B-44D4-AC5E-FB218AF8CA38}">
  <a:tblStyle styleId="{9673B274-E13B-44D4-AC5E-FB218AF8CA3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mih Canik" userId="48cbeec9dd85a7d5" providerId="LiveId" clId="{01331D6A-928F-483A-A07E-5E564742F4F7}"/>
    <pc:docChg chg="custSel modSld">
      <pc:chgData name="Semih Canik" userId="48cbeec9dd85a7d5" providerId="LiveId" clId="{01331D6A-928F-483A-A07E-5E564742F4F7}" dt="2026-05-19T11:41:52.672" v="28" actId="207"/>
      <pc:docMkLst>
        <pc:docMk/>
      </pc:docMkLst>
      <pc:sldChg chg="addSp delSp modSp mod">
        <pc:chgData name="Semih Canik" userId="48cbeec9dd85a7d5" providerId="LiveId" clId="{01331D6A-928F-483A-A07E-5E564742F4F7}" dt="2026-05-19T11:23:08.851" v="25" actId="1076"/>
        <pc:sldMkLst>
          <pc:docMk/>
          <pc:sldMk cId="0" sldId="258"/>
        </pc:sldMkLst>
        <pc:picChg chg="add mod">
          <ac:chgData name="Semih Canik" userId="48cbeec9dd85a7d5" providerId="LiveId" clId="{01331D6A-928F-483A-A07E-5E564742F4F7}" dt="2026-05-19T11:23:08.851" v="25" actId="1076"/>
          <ac:picMkLst>
            <pc:docMk/>
            <pc:sldMk cId="0" sldId="258"/>
            <ac:picMk id="3" creationId="{22E860EB-036B-055C-1FCE-31B096A861A2}"/>
          </ac:picMkLst>
        </pc:picChg>
        <pc:picChg chg="del">
          <ac:chgData name="Semih Canik" userId="48cbeec9dd85a7d5" providerId="LiveId" clId="{01331D6A-928F-483A-A07E-5E564742F4F7}" dt="2026-05-19T11:14:34.158" v="0" actId="478"/>
          <ac:picMkLst>
            <pc:docMk/>
            <pc:sldMk cId="0" sldId="258"/>
            <ac:picMk id="109" creationId="{00000000-0000-0000-0000-000000000000}"/>
          </ac:picMkLst>
        </pc:picChg>
        <pc:picChg chg="del">
          <ac:chgData name="Semih Canik" userId="48cbeec9dd85a7d5" providerId="LiveId" clId="{01331D6A-928F-483A-A07E-5E564742F4F7}" dt="2026-05-19T11:14:38.452" v="1" actId="478"/>
          <ac:picMkLst>
            <pc:docMk/>
            <pc:sldMk cId="0" sldId="258"/>
            <ac:picMk id="112" creationId="{00000000-0000-0000-0000-000000000000}"/>
          </ac:picMkLst>
        </pc:picChg>
      </pc:sldChg>
      <pc:sldChg chg="modSp mod">
        <pc:chgData name="Semih Canik" userId="48cbeec9dd85a7d5" providerId="LiveId" clId="{01331D6A-928F-483A-A07E-5E564742F4F7}" dt="2026-05-19T11:15:24.163" v="6" actId="1076"/>
        <pc:sldMkLst>
          <pc:docMk/>
          <pc:sldMk cId="0" sldId="259"/>
        </pc:sldMkLst>
        <pc:spChg chg="mod">
          <ac:chgData name="Semih Canik" userId="48cbeec9dd85a7d5" providerId="LiveId" clId="{01331D6A-928F-483A-A07E-5E564742F4F7}" dt="2026-05-19T11:15:14.272" v="5" actId="1076"/>
          <ac:spMkLst>
            <pc:docMk/>
            <pc:sldMk cId="0" sldId="259"/>
            <ac:spMk id="128" creationId="{00000000-0000-0000-0000-000000000000}"/>
          </ac:spMkLst>
        </pc:spChg>
        <pc:spChg chg="mod">
          <ac:chgData name="Semih Canik" userId="48cbeec9dd85a7d5" providerId="LiveId" clId="{01331D6A-928F-483A-A07E-5E564742F4F7}" dt="2026-05-19T11:15:24.163" v="6" actId="1076"/>
          <ac:spMkLst>
            <pc:docMk/>
            <pc:sldMk cId="0" sldId="259"/>
            <ac:spMk id="131" creationId="{00000000-0000-0000-0000-000000000000}"/>
          </ac:spMkLst>
        </pc:spChg>
        <pc:picChg chg="mod">
          <ac:chgData name="Semih Canik" userId="48cbeec9dd85a7d5" providerId="LiveId" clId="{01331D6A-928F-483A-A07E-5E564742F4F7}" dt="2026-05-19T11:15:06.652" v="4" actId="14100"/>
          <ac:picMkLst>
            <pc:docMk/>
            <pc:sldMk cId="0" sldId="259"/>
            <ac:picMk id="126" creationId="{00000000-0000-0000-0000-000000000000}"/>
          </ac:picMkLst>
        </pc:picChg>
      </pc:sldChg>
      <pc:sldChg chg="modSp mod">
        <pc:chgData name="Semih Canik" userId="48cbeec9dd85a7d5" providerId="LiveId" clId="{01331D6A-928F-483A-A07E-5E564742F4F7}" dt="2026-05-19T11:41:52.672" v="28" actId="207"/>
        <pc:sldMkLst>
          <pc:docMk/>
          <pc:sldMk cId="0" sldId="264"/>
        </pc:sldMkLst>
        <pc:graphicFrameChg chg="modGraphic">
          <ac:chgData name="Semih Canik" userId="48cbeec9dd85a7d5" providerId="LiveId" clId="{01331D6A-928F-483A-A07E-5E564742F4F7}" dt="2026-05-19T11:41:52.672" v="28" actId="207"/>
          <ac:graphicFrameMkLst>
            <pc:docMk/>
            <pc:sldMk cId="0" sldId="264"/>
            <ac:graphicFrameMk id="210" creationId="{00000000-0000-0000-0000-000000000000}"/>
          </ac:graphicFrameMkLst>
        </pc:graphicFrameChg>
      </pc:sldChg>
      <pc:sldChg chg="delSp modSp mod">
        <pc:chgData name="Semih Canik" userId="48cbeec9dd85a7d5" providerId="LiveId" clId="{01331D6A-928F-483A-A07E-5E564742F4F7}" dt="2026-05-19T11:16:25.871" v="18"/>
        <pc:sldMkLst>
          <pc:docMk/>
          <pc:sldMk cId="0" sldId="267"/>
        </pc:sldMkLst>
        <pc:spChg chg="del mod">
          <ac:chgData name="Semih Canik" userId="48cbeec9dd85a7d5" providerId="LiveId" clId="{01331D6A-928F-483A-A07E-5E564742F4F7}" dt="2026-05-19T11:16:25.869" v="16"/>
          <ac:spMkLst>
            <pc:docMk/>
            <pc:sldMk cId="0" sldId="267"/>
            <ac:spMk id="251" creationId="{00000000-0000-0000-0000-000000000000}"/>
          </ac:spMkLst>
        </pc:spChg>
        <pc:spChg chg="del mod">
          <ac:chgData name="Semih Canik" userId="48cbeec9dd85a7d5" providerId="LiveId" clId="{01331D6A-928F-483A-A07E-5E564742F4F7}" dt="2026-05-19T11:16:25.871" v="18"/>
          <ac:spMkLst>
            <pc:docMk/>
            <pc:sldMk cId="0" sldId="267"/>
            <ac:spMk id="252" creationId="{00000000-0000-0000-0000-000000000000}"/>
          </ac:spMkLst>
        </pc:spChg>
        <pc:spChg chg="mod">
          <ac:chgData name="Semih Canik" userId="48cbeec9dd85a7d5" providerId="LiveId" clId="{01331D6A-928F-483A-A07E-5E564742F4F7}" dt="2026-05-19T11:16:24.959" v="14" actId="1076"/>
          <ac:spMkLst>
            <pc:docMk/>
            <pc:sldMk cId="0" sldId="267"/>
            <ac:spMk id="253" creationId="{00000000-0000-0000-0000-000000000000}"/>
          </ac:spMkLst>
        </pc:spChg>
      </pc:sldChg>
      <pc:sldChg chg="modSp mod">
        <pc:chgData name="Semih Canik" userId="48cbeec9dd85a7d5" providerId="LiveId" clId="{01331D6A-928F-483A-A07E-5E564742F4F7}" dt="2026-05-19T11:16:40.102" v="19" actId="1076"/>
        <pc:sldMkLst>
          <pc:docMk/>
          <pc:sldMk cId="0" sldId="268"/>
        </pc:sldMkLst>
        <pc:spChg chg="mod">
          <ac:chgData name="Semih Canik" userId="48cbeec9dd85a7d5" providerId="LiveId" clId="{01331D6A-928F-483A-A07E-5E564742F4F7}" dt="2026-05-19T11:16:40.102" v="19" actId="1076"/>
          <ac:spMkLst>
            <pc:docMk/>
            <pc:sldMk cId="0" sldId="268"/>
            <ac:spMk id="26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4062" y="4165103"/>
            <a:ext cx="30003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05437" y="4165103"/>
            <a:ext cx="12763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62787" y="4165103"/>
            <a:ext cx="31051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55307" y="1949797"/>
            <a:ext cx="11081385" cy="859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Colonial Pipeline </a:t>
            </a:r>
            <a:r>
              <a:rPr lang="en-US" sz="615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Ransomware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48037" y="3094583"/>
            <a:ext cx="54959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Landmark Case of Critical Infrastructure Vulnerability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319337" y="4317503"/>
            <a:ext cx="24098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4CC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TOPIC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319337" y="4536578"/>
            <a:ext cx="24098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Infrastructure Security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00712" y="4317503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4CC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CASE YEAR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700712" y="4536578"/>
            <a:ext cx="685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2021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358062" y="4317503"/>
            <a:ext cx="2514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4CC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IMPACT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358062" y="4536578"/>
            <a:ext cx="25146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45% U.S. East Coast Fuel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5619750" y="857250"/>
            <a:ext cx="952500" cy="571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95275" y="1200150"/>
            <a:ext cx="1160145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The National Crisis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220980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When a single password paralyzed the American East Coast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19907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"Entryway" Failure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24003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 May 7, 2021, employees discovered a ransom note on a background of their system. The attackers didn't need zero-day exploits.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14400" y="35052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350520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Vector: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Compromised VPN credentials from an unused, legacy account.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14400" y="41148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41148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Fatal Flaw: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Lack of Multi-Factor Authentication (MFA).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4400" y="44196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441960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Proactive Action: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Colonial shut down the 5,500-mile pipeline to prevent ransomware from jumping from IT to OT (Operational Technology) networks.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Initial Breach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E860EB-036B-055C-1FCE-31B096A86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383" y="847725"/>
            <a:ext cx="4989483" cy="4514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4" y="2524125"/>
            <a:ext cx="5248275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24125"/>
            <a:ext cx="52387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514657" y="5222158"/>
            <a:ext cx="5219700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962025" y="2914650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Legacy Debt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62025" y="346710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company relied on an inactive VPN account that was not decommissioned. This "zombie" credential provided a persistent tunnel for attackers to move laterally.</a:t>
            </a:r>
            <a:endParaRPr dirty="0"/>
          </a:p>
        </p:txBody>
      </p:sp>
      <p:sp>
        <p:nvSpPr>
          <p:cNvPr id="131" name="Google Shape;131;p16"/>
          <p:cNvSpPr/>
          <p:nvPr/>
        </p:nvSpPr>
        <p:spPr>
          <a:xfrm>
            <a:off x="6400800" y="5203108"/>
            <a:ext cx="5219700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772275" y="2914650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IT/OT Convergence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72275" y="346710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While the actual pipeline controls weren't infected, the </a:t>
            </a: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billing system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was. Without it, Colonial couldn't track fuel flow or charge customers, forcing a full operational halt.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Systemic Vulnerabilities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56483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Fuel scarcity peaked 4 days post-attack as panic buying drained 90% of stations in major hubs like Charlotte, NC.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Economic Disruption Trend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3587"/>
            <a:ext cx="2547937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033587"/>
            <a:ext cx="2547937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033587"/>
            <a:ext cx="2547937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033587"/>
            <a:ext cx="2547937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866775" y="2976562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Spoofing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66775" y="3443287"/>
            <a:ext cx="1957387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Attackers utilized valid, compromised VPN credentials to impersonate a legitimate remote employee.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3700462" y="2976562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Tampering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3700462" y="3443287"/>
            <a:ext cx="1957387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Deployment of encryption payloads across IT servers, rendering billing and business data inaccessible.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534150" y="2976562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Info Disclosure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534150" y="3443287"/>
            <a:ext cx="195738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100GB of sensitive corporate data was exfiltrated for "double extortion" purposes prior to encryption.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367837" y="2976562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Denial of Service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367837" y="3443287"/>
            <a:ext cx="1957387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core business objective was halted by encrypting the systems required to manage pipeline logistics.</a:t>
            </a:r>
            <a:endParaRPr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3574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00462" y="23574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23574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367837" y="23574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STRIDE Threat Analysis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571500" y="41338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10733" y="4467225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April 29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4886325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Initial breach via compromised VPN credentials.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3383413" y="2276475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May 7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3444180" y="2695575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Ransomware discovered; Pipeline shut down proactively.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256094" y="4467225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May 10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316860" y="488632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FBI identifies DarkSide; $4.4M ransom paid in BTC.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128774" y="2581275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May 13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189541" y="30003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System restart initiated; National emergency lifted.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6-Day Crisis Timeline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1691580" y="4038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4564260" y="4038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436941" y="4038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10309621" y="4038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3067050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17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4400550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U.S. States in Emergency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381750" y="245268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Catastrophic Fallout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381750" y="28622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shutdown triggered the most significant energy crisis in the digital age.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724650" y="36623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762750" y="36623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$4.4 Million: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Ransom paid within hours to receive a (slow) decryption tool.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724650" y="42719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762750" y="42719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2.5 Million: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Barrels of fuel disrupted daily.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724650" y="45767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762750" y="45767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$2.3 Billion: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Estimated total economic damage from supply chain delays.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Impact by the Numbers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0" name="Google Shape;210;p21"/>
          <p:cNvGraphicFramePr/>
          <p:nvPr>
            <p:extLst>
              <p:ext uri="{D42A27DB-BD31-4B8C-83A1-F6EECF244321}">
                <p14:modId xmlns:p14="http://schemas.microsoft.com/office/powerpoint/2010/main" val="771922338"/>
              </p:ext>
            </p:extLst>
          </p:nvPr>
        </p:nvGraphicFramePr>
        <p:xfrm>
          <a:off x="571500" y="2366962"/>
          <a:ext cx="9983088" cy="3057500"/>
        </p:xfrm>
        <a:graphic>
          <a:graphicData uri="http://schemas.openxmlformats.org/drawingml/2006/table">
            <a:tbl>
              <a:tblPr firstRow="1" bandRow="1">
                <a:noFill/>
                <a:tableStyleId>{9673B274-E13B-44D4-AC5E-FB218AF8CA38}</a:tableStyleId>
              </a:tblPr>
              <a:tblGrid>
                <a:gridCol w="1328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84CC1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84CC1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Pre-2021 Posture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84CC1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Post-Attack Requirement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Access Control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Single-factor, static passwords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Mandatory Multi-Factor (MFA)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Segmentation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Interconnected IT and OT logs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Air-gapped billing vs control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Reporting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Voluntary disclosure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TSA Mandatory 24h reporting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Crisis Plans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Ad-hoc recovery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Required Cyber Incident Drills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1" name="Google Shape;211;p21"/>
          <p:cNvSpPr/>
          <p:nvPr/>
        </p:nvSpPr>
        <p:spPr>
          <a:xfrm>
            <a:off x="571500" y="2995612"/>
            <a:ext cx="2394644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2966144" y="2995612"/>
            <a:ext cx="4274046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7240190" y="2995612"/>
            <a:ext cx="4380309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71500" y="3609975"/>
            <a:ext cx="239464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966144" y="3609975"/>
            <a:ext cx="427404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7240190" y="3609975"/>
            <a:ext cx="438030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71500" y="4210050"/>
            <a:ext cx="239464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966144" y="4210050"/>
            <a:ext cx="427404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7240190" y="4210050"/>
            <a:ext cx="438030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71500" y="4810125"/>
            <a:ext cx="239464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966144" y="4810125"/>
            <a:ext cx="427404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7240190" y="4810125"/>
            <a:ext cx="438030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571500" y="5410200"/>
            <a:ext cx="239464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2966144" y="5410200"/>
            <a:ext cx="427404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7240190" y="5410200"/>
            <a:ext cx="438030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Security Policy Evolution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762000" y="1323975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DarkSide RaaS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71500" y="1323975"/>
            <a:ext cx="57150" cy="5524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71500" y="24479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attack was orchestrated by </a:t>
            </a:r>
            <a:r>
              <a:rPr lang="en-US" sz="1500" b="1" i="0" u="none" strike="noStrike" cap="non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DarkSide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a Russia-based Ransomware-as-a-Service (RaaS) group.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34385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Unlike state-sponsored spies, they operated like a business, offering "customer support" to victims and maintaining a "code of ethics" (e.g., avoiding hospitals).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47339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"Our goal is to make money, and not creating problems for society."</a:t>
            </a:r>
            <a:r>
              <a:rPr lang="en-US" sz="1500" b="0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 — DarkSide Press Release</a:t>
            </a:r>
            <a:endParaRPr/>
          </a:p>
        </p:txBody>
      </p:sp>
      <p:pic>
        <p:nvPicPr>
          <p:cNvPr id="238" name="Google Shape;23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1714500" y="2507902"/>
            <a:ext cx="8763000" cy="16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"I made the decision to pay, and I made the decision to keep it as quiet as possible... It was the right thing to do for the country." 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4019550" y="4473773"/>
            <a:ext cx="41529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— Joseph Blount, CEO of Colonial Pipeline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294968" y="2762910"/>
            <a:ext cx="11049000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>
            <a:off x="571500" y="311571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651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666875" y="325859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https://www.colpipe.com/wp-content/uploads/2024/11/homepage-hero.jpg</a:t>
            </a:r>
            <a:endParaRPr dirty="0"/>
          </a:p>
        </p:txBody>
      </p:sp>
      <p:sp>
        <p:nvSpPr>
          <p:cNvPr id="264" name="Google Shape;264;p25"/>
          <p:cNvSpPr txBox="1"/>
          <p:nvPr/>
        </p:nvSpPr>
        <p:spPr>
          <a:xfrm>
            <a:off x="1666874" y="348436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www.colpipe.com</a:t>
            </a:r>
            <a:endParaRPr dirty="0"/>
          </a:p>
        </p:txBody>
      </p:sp>
      <p:pic>
        <p:nvPicPr>
          <p:cNvPr id="265" name="Google Shape;26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499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666875" y="404336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https://istari-global.com/assets/Uploads/A-Closer-Look-at-the-DarkSide-Ransomware-Gang-v2__ScaleMaxWidthWzEwMDBd.png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666875" y="428907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istari-global.com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Microsoft Office PowerPoint</Application>
  <PresentationFormat>Widescreen</PresentationFormat>
  <Paragraphs>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Urbanist</vt:lpstr>
      <vt:lpstr>Arial</vt:lpstr>
      <vt:lpstr>Calibri</vt:lpstr>
      <vt:lpstr>Urbanist Medium</vt:lpstr>
      <vt:lpstr>JetBrains Mono Medium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Semih Canik</cp:lastModifiedBy>
  <cp:revision>1</cp:revision>
  <dcterms:modified xsi:type="dcterms:W3CDTF">2026-05-19T11:41:59Z</dcterms:modified>
</cp:coreProperties>
</file>